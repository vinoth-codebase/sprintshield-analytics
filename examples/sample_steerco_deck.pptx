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Committed (pts)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DA</c:v>
                </c:pt>
                <c:pt idx="1">
                  <c:v>DS</c:v>
                </c:pt>
                <c:pt idx="2">
                  <c:v>DE</c:v>
                </c:pt>
                <c:pt idx="3">
                  <c:v>PMO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74.4</c:v>
                </c:pt>
                <c:pt idx="1">
                  <c:v>61.1</c:v>
                </c:pt>
                <c:pt idx="2">
                  <c:v>95.7</c:v>
                </c:pt>
                <c:pt idx="3">
                  <c:v>27.9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Delivered (pts)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DA</c:v>
                </c:pt>
                <c:pt idx="1">
                  <c:v>DS</c:v>
                </c:pt>
                <c:pt idx="2">
                  <c:v>DE</c:v>
                </c:pt>
                <c:pt idx="3">
                  <c:v>PMO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52.6</c:v>
                </c:pt>
                <c:pt idx="1">
                  <c:v>44.7</c:v>
                </c:pt>
                <c:pt idx="2">
                  <c:v>68.7</c:v>
                </c:pt>
                <c:pt idx="3">
                  <c:v>21.7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FFFFFF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 burned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dbt_core_warehouse</c:v>
                </c:pt>
                <c:pt idx="1">
                  <c:v>tableau_exec_dashboards</c:v>
                </c:pt>
                <c:pt idx="2">
                  <c:v>kafka_ingestion</c:v>
                </c:pt>
                <c:pt idx="3">
                  <c:v>churn_model_v4</c:v>
                </c:pt>
                <c:pt idx="4">
                  <c:v>airflow_orchestration</c:v>
                </c:pt>
                <c:pt idx="5">
                  <c:v>looker_metric_layer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628.8</c:v>
                </c:pt>
                <c:pt idx="1">
                  <c:v>554.3</c:v>
                </c:pt>
                <c:pt idx="2">
                  <c:v>547.0</c:v>
                </c:pt>
                <c:pt idx="3">
                  <c:v>526.8</c:v>
                </c:pt>
                <c:pt idx="4">
                  <c:v>482.3</c:v>
                </c:pt>
                <c:pt idx="5">
                  <c:v>471.3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FFFFFF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Safe commitment (pts)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DE</c:v>
                </c:pt>
                <c:pt idx="1">
                  <c:v>DA</c:v>
                </c:pt>
                <c:pt idx="2">
                  <c:v>DS</c:v>
                </c:pt>
                <c:pt idx="3">
                  <c:v>PMO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76.5</c:v>
                </c:pt>
                <c:pt idx="1">
                  <c:v>55.7</c:v>
                </c:pt>
                <c:pt idx="2">
                  <c:v>37.5</c:v>
                </c:pt>
                <c:pt idx="3">
                  <c:v>24.2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Contingency buffer (h)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DE</c:v>
                </c:pt>
                <c:pt idx="1">
                  <c:v>DA</c:v>
                </c:pt>
                <c:pt idx="2">
                  <c:v>DS</c:v>
                </c:pt>
                <c:pt idx="3">
                  <c:v>PMO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129.0</c:v>
                </c:pt>
                <c:pt idx="1">
                  <c:v>111.0</c:v>
                </c:pt>
                <c:pt idx="2">
                  <c:v>111.0</c:v>
                </c:pt>
                <c:pt idx="3">
                  <c:v>36.0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FFFFFF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Executive KPI Scorecard</a:t>
            </a:r>
          </a:p>
          <a:p>
            <a:pPr>
              <a:defRPr sz="1100">
                <a:solidFill>
                  <a:srgbClr val="EAF4F6"/>
                </a:solidFill>
              </a:defRPr>
            </a:pPr>
            <a:r>
              <a:t>Planned feature velocity vs. unplanned support tax across data towers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25880"/>
            <a:ext cx="2160361" cy="1051560"/>
          </a:xfrm>
          <a:prstGeom prst="roundRect">
            <a:avLst/>
          </a:prstGeom>
          <a:solidFill>
            <a:srgbClr val="162B33"/>
          </a:solidFill>
          <a:ln w="1587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>
              <a:defRPr sz="2400" b="1">
                <a:solidFill>
                  <a:srgbClr val="F4A261"/>
                </a:solidFill>
              </a:defRPr>
            </a:pPr>
            <a:r>
              <a:t>26.6%</a:t>
            </a:r>
          </a:p>
          <a:p>
            <a:pPr>
              <a:defRPr sz="1000">
                <a:solidFill>
                  <a:srgbClr val="EAF4F6"/>
                </a:solidFill>
              </a:defRPr>
            </a:pPr>
            <a:r>
              <a:t>Overall Support Tax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0713" y="1325880"/>
            <a:ext cx="2160361" cy="1051560"/>
          </a:xfrm>
          <a:prstGeom prst="roundRect">
            <a:avLst/>
          </a:prstGeom>
          <a:solidFill>
            <a:srgbClr val="162B33"/>
          </a:solidFill>
          <a:ln w="15875">
            <a:solidFill>
              <a:srgbClr val="2C9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>
              <a:defRPr sz="2400" b="1">
                <a:solidFill>
                  <a:srgbClr val="2C9FB5"/>
                </a:solidFill>
              </a:defRPr>
            </a:pPr>
            <a:r>
              <a:t>5,456</a:t>
            </a:r>
          </a:p>
          <a:p>
            <a:pPr>
              <a:defRPr sz="1000">
                <a:solidFill>
                  <a:srgbClr val="EAF4F6"/>
                </a:solidFill>
              </a:defRPr>
            </a:pPr>
            <a:r>
              <a:t>Unplanned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5666" y="1325880"/>
            <a:ext cx="2160361" cy="1051560"/>
          </a:xfrm>
          <a:prstGeom prst="roundRect">
            <a:avLst/>
          </a:prstGeom>
          <a:solidFill>
            <a:srgbClr val="162B33"/>
          </a:solidFill>
          <a:ln w="15875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>
              <a:defRPr sz="2400" b="1">
                <a:solidFill>
                  <a:srgbClr val="4CAF50"/>
                </a:solidFill>
              </a:defRPr>
            </a:pPr>
            <a:r>
              <a:t>73.6%</a:t>
            </a:r>
          </a:p>
          <a:p>
            <a:pPr>
              <a:defRPr sz="1000">
                <a:solidFill>
                  <a:srgbClr val="EAF4F6"/>
                </a:solidFill>
              </a:defRPr>
            </a:pPr>
            <a:r>
              <a:t>Flow Efficiency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40620" y="1325880"/>
            <a:ext cx="2160361" cy="1051560"/>
          </a:xfrm>
          <a:prstGeom prst="roundRect">
            <a:avLst/>
          </a:prstGeom>
          <a:solidFill>
            <a:srgbClr val="162B33"/>
          </a:solidFill>
          <a:ln w="15875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>
              <a:defRPr sz="2400" b="1">
                <a:solidFill>
                  <a:srgbClr val="F4A261"/>
                </a:solidFill>
              </a:defRPr>
            </a:pPr>
            <a:r>
              <a:t>899</a:t>
            </a:r>
          </a:p>
          <a:p>
            <a:pPr>
              <a:defRPr sz="1000">
                <a:solidFill>
                  <a:srgbClr val="EAF4F6"/>
                </a:solidFill>
              </a:defRPr>
            </a:pPr>
            <a:r>
              <a:t>Incidents Absorbed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65573" y="1325880"/>
            <a:ext cx="2160361" cy="1051560"/>
          </a:xfrm>
          <a:prstGeom prst="roundRect">
            <a:avLst/>
          </a:prstGeom>
          <a:solidFill>
            <a:srgbClr val="162B33"/>
          </a:solidFill>
          <a:ln w="15875">
            <a:solidFill>
              <a:srgbClr val="2C9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l">
              <a:defRPr sz="2400" b="1">
                <a:solidFill>
                  <a:srgbClr val="2C9FB5"/>
                </a:solidFill>
              </a:defRPr>
            </a:pPr>
            <a:r>
              <a:t>6.1 h</a:t>
            </a:r>
          </a:p>
          <a:p>
            <a:pPr>
              <a:defRPr sz="1000">
                <a:solidFill>
                  <a:srgbClr val="EAF4F6"/>
                </a:solidFill>
              </a:defRPr>
            </a:pPr>
            <a:r>
              <a:t>MTTR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" y="2606040"/>
          <a:ext cx="67665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06640" y="2606040"/>
          <a:ext cx="4389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Tower</a:t>
                      </a:r>
                    </a:p>
                  </a:txBody>
                  <a:tcPr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Support Tax</a:t>
                      </a:r>
                    </a:p>
                  </a:txBody>
                  <a:tcPr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Predictability</a:t>
                      </a:r>
                    </a:p>
                  </a:txBody>
                  <a:tcPr>
                    <a:solidFill>
                      <a:srgbClr val="134E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DA - Data Analytics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9534F"/>
                          </a:solidFill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DS - Data Science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A261"/>
                          </a:solidFill>
                        </a:defRPr>
                      </a:pPr>
                      <a:r>
                        <a:t>27.2%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0.67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DE - Data Engineering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A261"/>
                          </a:solidFill>
                        </a:defRPr>
                      </a:pPr>
                      <a:r>
                        <a:t>25.9%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PMO - PMO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4A261"/>
                          </a:solidFill>
                        </a:defRPr>
                      </a:pPr>
                      <a:r>
                        <a:t>22.8%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B72"/>
                </a:solidFill>
              </a:defRPr>
            </a:pPr>
            <a:r>
              <a:t>SprintShield Analytics | generated 20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Root-Cause Waterfall</a:t>
            </a:r>
          </a:p>
          <a:p>
            <a:pPr>
              <a:defRPr sz="1100">
                <a:solidFill>
                  <a:srgbClr val="EAF4F6"/>
                </a:solidFill>
              </a:defRPr>
            </a:pPr>
            <a:r>
              <a:t>Top unstable data assets draining developer hours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371600"/>
          <a:ext cx="6675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0" y="1371600"/>
            <a:ext cx="4480560" cy="4754880"/>
          </a:xfrm>
          <a:prstGeom prst="roundRect">
            <a:avLst/>
          </a:prstGeom>
          <a:solidFill>
            <a:srgbClr val="162B33"/>
          </a:solidFill>
          <a:ln>
            <a:solidFill>
              <a:srgbClr val="2C9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2C9FB5"/>
                </a:solidFill>
              </a:defRPr>
            </a:pPr>
            <a:r>
              <a:t>Top 3 hour-draining pipelines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1. dbt_core_warehouse  (DE)</a:t>
            </a:r>
          </a:p>
          <a:p>
            <a:pPr>
              <a:defRPr sz="1000">
                <a:solidFill>
                  <a:srgbClr val="EAF4F6"/>
                </a:solidFill>
              </a:defRPr>
            </a:pPr>
            <a:r>
              <a:t>     629 h burned | 86 incidents | MTTR 7.3 h | 12% of total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2. tableau_exec_dashboards  (DA)</a:t>
            </a:r>
          </a:p>
          <a:p>
            <a:pPr>
              <a:defRPr sz="1000">
                <a:solidFill>
                  <a:srgbClr val="EAF4F6"/>
                </a:solidFill>
              </a:defRPr>
            </a:pPr>
            <a:r>
              <a:t>     554 h burned | 142 incidents | MTTR 3.9 h | 10% of total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3. kafka_ingestion  (DE)</a:t>
            </a:r>
          </a:p>
          <a:p>
            <a:pPr>
              <a:defRPr sz="1000">
                <a:solidFill>
                  <a:srgbClr val="EAF4F6"/>
                </a:solidFill>
              </a:defRPr>
            </a:pPr>
            <a:r>
              <a:t>     547 h burned | 66 incidents | MTTR 8.3 h | 10% of total</a:t>
            </a:r>
          </a:p>
          <a:p>
            <a:br/>
            <a:pPr>
              <a:defRPr sz="1000" i="1">
                <a:solidFill>
                  <a:srgbClr val="F4A261"/>
                </a:solidFill>
              </a:defRPr>
            </a:pPr>
            <a:r>
              <a:t>Recommendation: ring-fence a reliability workstream for the assets above.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B72"/>
                </a:solidFill>
              </a:defRPr>
            </a:pPr>
            <a:r>
              <a:t>Support burden ranked by total resolution hours burned.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Monte Carlo Capacity Recommendation</a:t>
            </a:r>
          </a:p>
          <a:p>
            <a:pPr>
              <a:defRPr sz="1100">
                <a:solidFill>
                  <a:srgbClr val="EAF4F6"/>
                </a:solidFill>
              </a:defRPr>
            </a:pPr>
            <a:r>
              <a:t>10,000-run simulation | commit to the largest plan clearing 85% delivery confidence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371600"/>
          <a:ext cx="6675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0" y="1554480"/>
          <a:ext cx="44805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43000"/>
                <a:gridCol w="1051560"/>
                <a:gridCol w="109728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Tower</a:t>
                      </a:r>
                    </a:p>
                  </a:txBody>
                  <a:tcPr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Support Tax</a:t>
                      </a:r>
                    </a:p>
                  </a:txBody>
                  <a:tcPr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Safe Pts</a:t>
                      </a:r>
                    </a:p>
                  </a:txBody>
                  <a:tcPr>
                    <a:solidFill>
                      <a:srgbClr val="134E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Buffer (h)</a:t>
                      </a:r>
                    </a:p>
                  </a:txBody>
                  <a:tcPr>
                    <a:solidFill>
                      <a:srgbClr val="134E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DE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24.7%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76.5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129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DA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28.0%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55.7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DS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28.3%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37.5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PMO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21.6%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24.2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162B3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365760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AF4F6"/>
                </a:solidFill>
              </a:defRPr>
            </a:pPr>
            <a:r>
              <a:t>Safe Pts = largest sprint commitment that still clears the delivery-confidence target after sampled unplanned support demand. Buffer is the contingency hours a planner should ring-fence.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B72"/>
                </a:solidFill>
              </a:defRPr>
            </a:pPr>
            <a:r>
              <a:t>Target delivery confidence: 85% | simulated runs: 10000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